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1FB59F3-AB09-461F-B309-A1122791EC06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10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836755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28016" y="1325880"/>
            <a:ext cx="6035040" cy="17830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82296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— Data Query Language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11480" y="1389888"/>
            <a:ext cx="576072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DQL &amp; the</a:t>
            </a:r>
            <a:endParaRPr lang="en-US" sz="3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Command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411480" y="3246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read data from a database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45720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Knowledge Share  ·  2 Min Talk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DQL?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804672"/>
            <a:ext cx="8138160" cy="0"/>
          </a:xfrm>
          <a:prstGeom prst="line">
            <a:avLst/>
          </a:prstGeom>
          <a:noFill/>
          <a:ln w="22860">
            <a:solidFill>
              <a:srgbClr val="1D4E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00584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DQL stands for Data Query Language.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02920" y="146304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the part of SQL used only to READ data from a database — it never inserts, updates, or deletes anything.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02920" y="233172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only one DQL command: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02920" y="269748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02920" y="324612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it is the most-used command in all of SQL.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892040" y="960120"/>
            <a:ext cx="0" cy="3291840"/>
          </a:xfrm>
          <a:prstGeom prst="line">
            <a:avLst/>
          </a:prstGeom>
          <a:noFill/>
          <a:ln w="1524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74920" y="100584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it this way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74920" y="1417320"/>
            <a:ext cx="3657600" cy="278892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57800" y="1572768"/>
            <a:ext cx="32918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database is like a huge Excel sheet with millions of rows.</a:t>
            </a:r>
            <a:endParaRPr lang="en-US" sz="1300" dirty="0"/>
          </a:p>
          <a:p>
            <a:pPr marL="0" indent="0">
              <a:lnSpc>
                <a:spcPct val="150000"/>
              </a:lnSpc>
              <a:buNone/>
            </a:pPr>
            <a:endParaRPr lang="en-US" sz="13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is your search and filter button — it fetches exactly the rows and columns you need, without touching any data.</a:t>
            </a:r>
            <a:endParaRPr lang="en-US" sz="1300" dirty="0"/>
          </a:p>
          <a:p>
            <a:pPr marL="0" indent="0">
              <a:lnSpc>
                <a:spcPct val="150000"/>
              </a:lnSpc>
              <a:buNone/>
            </a:pPr>
            <a:endParaRPr lang="en-US" sz="13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3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"Show me all orders above ₹500 placed today from Mumbai."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— Basic Syntax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804672"/>
            <a:ext cx="8138160" cy="0"/>
          </a:xfrm>
          <a:prstGeom prst="line">
            <a:avLst/>
          </a:prstGeom>
          <a:noFill/>
          <a:ln w="22860">
            <a:solidFill>
              <a:srgbClr val="1D4E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987552"/>
            <a:ext cx="8138160" cy="1572768"/>
          </a:xfrm>
          <a:prstGeom prst="rect">
            <a:avLst/>
          </a:prstGeom>
          <a:solidFill>
            <a:srgbClr val="F8F9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987552"/>
            <a:ext cx="64008" cy="157276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042416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 </a:t>
            </a:r>
            <a:r>
              <a:rPr lang="en-US" sz="13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column1, column2
</a:t>
            </a:r>
            <a:r>
              <a:rPr lang="en-US" sz="135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   </a:t>
            </a:r>
            <a:r>
              <a:rPr lang="en-US" sz="13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table_name
</a:t>
            </a:r>
            <a:r>
              <a:rPr lang="en-US" sz="135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  </a:t>
            </a:r>
            <a:r>
              <a:rPr lang="en-US" sz="13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condition              </a:t>
            </a:r>
            <a:r>
              <a:rPr lang="en-US" sz="1350" i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optional
</a:t>
            </a:r>
            <a:r>
              <a:rPr lang="en-US" sz="135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r>
              <a:rPr lang="en-US" sz="13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column ASC|DESC      </a:t>
            </a:r>
            <a:r>
              <a:rPr lang="en-US" sz="1350" i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optional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02920" y="2724912"/>
            <a:ext cx="8138160" cy="475488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2798064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377440" y="2798064"/>
            <a:ext cx="6126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which columns you want to see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346704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377440" y="3346704"/>
            <a:ext cx="6126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SQL which table to look in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2920" y="3822192"/>
            <a:ext cx="8138160" cy="475488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3895344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377440" y="3895344"/>
            <a:ext cx="6126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rows — show only rows that match a condition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4360" y="4443984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377440" y="4443984"/>
            <a:ext cx="6126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the results (ASC = A→Z / low→high, DESC = reverse)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Example — Food Delivery App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804672"/>
            <a:ext cx="8138160" cy="0"/>
          </a:xfrm>
          <a:prstGeom prst="line">
            <a:avLst/>
          </a:prstGeom>
          <a:noFill/>
          <a:ln w="22860">
            <a:solidFill>
              <a:srgbClr val="1D4E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960120"/>
            <a:ext cx="8138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 You're a data analyst at a food delivery company. Your manager asks — "Show me all orders above ₹300 placed in Bengaluru today, sorted by amount."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508760"/>
            <a:ext cx="8138160" cy="1481328"/>
          </a:xfrm>
          <a:prstGeom prst="rect">
            <a:avLst/>
          </a:prstGeom>
          <a:solidFill>
            <a:srgbClr val="F8F9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508760"/>
            <a:ext cx="64008" cy="14813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563624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 </a:t>
            </a:r>
            <a:r>
              <a:rPr lang="en-US" sz="13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order_id, customer_name, restaurant, amount, status
</a:t>
            </a:r>
            <a:r>
              <a:rPr lang="en-US" sz="135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   </a:t>
            </a:r>
            <a:r>
              <a:rPr lang="en-US" sz="13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
</a:t>
            </a:r>
            <a:r>
              <a:rPr lang="en-US" sz="135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  </a:t>
            </a:r>
            <a:r>
              <a:rPr lang="en-US" sz="13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city = </a:t>
            </a:r>
            <a:r>
              <a:rPr lang="en-US" sz="1350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'Bengaluru'</a:t>
            </a:r>
            <a:r>
              <a:rPr lang="en-US" sz="13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 amount &gt; </a:t>
            </a:r>
            <a:r>
              <a:rPr lang="en-US" sz="1350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300</a:t>
            </a:r>
            <a:r>
              <a:rPr lang="en-US" sz="13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 order_date = </a:t>
            </a:r>
            <a:r>
              <a:rPr lang="en-US" sz="1350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CURDATE()
</a:t>
            </a:r>
            <a:r>
              <a:rPr lang="en-US" sz="135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r>
              <a:rPr lang="en-US" sz="13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amount DESC;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02920" y="30906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</a:t>
            </a:r>
            <a:endParaRPr lang="en-US" sz="11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383280"/>
          <a:ext cx="8138160" cy="1645920"/>
        </p:xfrm>
        <a:graphic>
          <a:graphicData uri="http://schemas.openxmlformats.org/drawingml/2006/table">
            <a:tbl>
              <a:tblPr/>
              <a:tblGrid>
                <a:gridCol w="16276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27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27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276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276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order_id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customer_name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restaurant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amount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Priya Sharma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Meghana Foods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 820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Rahul Nair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CTR Malleswaram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 560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5048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Ananya Reddy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Truffles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 430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 for delivery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Vikram Joshi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Vidyarthi Bhavan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 320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slow">
    <p:wheel spokes="1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Clauses with Real Queries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804672"/>
            <a:ext cx="8138160" cy="0"/>
          </a:xfrm>
          <a:prstGeom prst="line">
            <a:avLst/>
          </a:prstGeom>
          <a:noFill/>
          <a:ln w="22860">
            <a:solidFill>
              <a:srgbClr val="1D4E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960120"/>
            <a:ext cx="8138160" cy="749808"/>
          </a:xfrm>
          <a:prstGeom prst="rect">
            <a:avLst/>
          </a:prstGeom>
          <a:solidFill>
            <a:srgbClr val="F3F4F6"/>
          </a:solidFill>
          <a:ln w="1016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00584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40080" y="134416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rows by a condition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40280" y="1051560"/>
            <a:ext cx="0" cy="566928"/>
          </a:xfrm>
          <a:prstGeom prst="line">
            <a:avLst/>
          </a:prstGeom>
          <a:noFill/>
          <a:ln w="1016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377440" y="1124712"/>
            <a:ext cx="6080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7415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* FROM employees WHERE department = 'Engineering';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02920" y="1764792"/>
            <a:ext cx="8138160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2148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results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240280" y="1856232"/>
            <a:ext cx="0" cy="566928"/>
          </a:xfrm>
          <a:prstGeom prst="line">
            <a:avLst/>
          </a:prstGeom>
          <a:noFill/>
          <a:ln w="1016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77440" y="1929384"/>
            <a:ext cx="6080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7415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name, salary FROM employees ORDER BY salary DESC;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2569464"/>
            <a:ext cx="8138160" cy="749808"/>
          </a:xfrm>
          <a:prstGeom prst="rect">
            <a:avLst/>
          </a:prstGeom>
          <a:solidFill>
            <a:srgbClr val="F3F4F6"/>
          </a:solidFill>
          <a:ln w="1016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61518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29535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only first N rows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240280" y="2660904"/>
            <a:ext cx="0" cy="566928"/>
          </a:xfrm>
          <a:prstGeom prst="line">
            <a:avLst/>
          </a:prstGeom>
          <a:noFill/>
          <a:ln w="1016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377440" y="2734056"/>
            <a:ext cx="6080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7415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* FROM products ORDER BY created_at DESC LIMIT 5;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3374136"/>
            <a:ext cx="8138160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41985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DISTINCT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37581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duplicate values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240280" y="3465576"/>
            <a:ext cx="0" cy="566928"/>
          </a:xfrm>
          <a:prstGeom prst="line">
            <a:avLst/>
          </a:prstGeom>
          <a:noFill/>
          <a:ln w="10160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377440" y="3538728"/>
            <a:ext cx="6080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7415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DISTINCT city FROM customers;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02920" y="4178808"/>
            <a:ext cx="8138160" cy="749808"/>
          </a:xfrm>
          <a:prstGeom prst="rect">
            <a:avLst/>
          </a:prstGeom>
          <a:solidFill>
            <a:srgbClr val="F3F4F6"/>
          </a:solidFill>
          <a:ln w="1016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22452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LIKE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40080" y="456285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search (% = wildcard)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2240280" y="4270248"/>
            <a:ext cx="0" cy="566928"/>
          </a:xfrm>
          <a:prstGeom prst="line">
            <a:avLst/>
          </a:prstGeom>
          <a:noFill/>
          <a:ln w="1016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377440" y="4343400"/>
            <a:ext cx="6080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7415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* FROM users WHERE email LIKE '%@gmail.com';</a:t>
            </a:r>
            <a:endParaRPr lang="en-US" sz="11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Functions + GROUP BY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804672"/>
            <a:ext cx="8138160" cy="0"/>
          </a:xfrm>
          <a:prstGeom prst="line">
            <a:avLst/>
          </a:prstGeom>
          <a:noFill/>
          <a:ln w="22860">
            <a:solidFill>
              <a:srgbClr val="1D4E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960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functions summarize many rows into a single number. You use them with GROUP BY to get results per group.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02920" y="1600200"/>
            <a:ext cx="1572768" cy="640080"/>
          </a:xfrm>
          <a:prstGeom prst="rect">
            <a:avLst/>
          </a:prstGeom>
          <a:solidFill>
            <a:srgbClr val="DBEAFE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4592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COUNT(*)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920240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rows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85416" y="1600200"/>
            <a:ext cx="1572768" cy="640080"/>
          </a:xfrm>
          <a:prstGeom prst="rect">
            <a:avLst/>
          </a:prstGeom>
          <a:solidFill>
            <a:srgbClr val="DBEAFE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31136" y="164592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SUM(col)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231136" y="1920240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all values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867912" y="1600200"/>
            <a:ext cx="1572768" cy="640080"/>
          </a:xfrm>
          <a:prstGeom prst="rect">
            <a:avLst/>
          </a:prstGeom>
          <a:solidFill>
            <a:srgbClr val="DBEAFE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13632" y="164592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AVG(col)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913632" y="1920240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550408" y="1600200"/>
            <a:ext cx="1572768" cy="640080"/>
          </a:xfrm>
          <a:prstGeom prst="rect">
            <a:avLst/>
          </a:prstGeom>
          <a:solidFill>
            <a:srgbClr val="DBEAFE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596128" y="164592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MAX(col)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596128" y="1920240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value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232904" y="1600200"/>
            <a:ext cx="1572768" cy="640080"/>
          </a:xfrm>
          <a:prstGeom prst="rect">
            <a:avLst/>
          </a:prstGeom>
          <a:solidFill>
            <a:srgbClr val="DBEAFE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78624" y="164592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MIN(col)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278624" y="1920240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value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02920" y="239572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query — HR wants average salary and headcount per department: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02920" y="2779776"/>
            <a:ext cx="8138160" cy="1783080"/>
          </a:xfrm>
          <a:prstGeom prst="rect">
            <a:avLst/>
          </a:prstGeom>
          <a:solidFill>
            <a:srgbClr val="F8F9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2779776"/>
            <a:ext cx="64008" cy="178308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2834640"/>
            <a:ext cx="7863840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 </a:t>
            </a:r>
            <a:r>
              <a:rPr lang="en-US" sz="13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department, </a:t>
            </a:r>
            <a:r>
              <a:rPr lang="en-US" sz="135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r>
              <a:rPr lang="en-US" sz="13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(*) AS headcount, </a:t>
            </a:r>
            <a:r>
              <a:rPr lang="en-US" sz="135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AVG</a:t>
            </a:r>
            <a:r>
              <a:rPr lang="en-US" sz="13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(salary) AS avg_salary, </a:t>
            </a:r>
            <a:r>
              <a:rPr lang="en-US" sz="135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</a:t>
            </a:r>
            <a:r>
              <a:rPr lang="en-US" sz="13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(salary) AS top_salary
</a:t>
            </a:r>
            <a:r>
              <a:rPr lang="en-US" sz="135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   </a:t>
            </a:r>
            <a:r>
              <a:rPr lang="en-US" sz="13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employees
</a:t>
            </a:r>
            <a:r>
              <a:rPr lang="en-US" sz="135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</a:t>
            </a:r>
            <a:r>
              <a:rPr lang="en-US" sz="13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department
</a:t>
            </a:r>
            <a:r>
              <a:rPr lang="en-US" sz="135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r>
              <a:rPr lang="en-US" sz="13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avg_salary DESC;</a:t>
            </a:r>
            <a:endParaRPr lang="en-US" sz="13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with JOIN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804672"/>
            <a:ext cx="8138160" cy="0"/>
          </a:xfrm>
          <a:prstGeom prst="line">
            <a:avLst/>
          </a:prstGeom>
          <a:noFill/>
          <a:ln w="22860">
            <a:solidFill>
              <a:srgbClr val="1D4E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96012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JOIN lets you combine rows from two tables based on a related column. Most real queries use JOINs.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02920" y="1444752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query — get customer name and their order details: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02920" y="1783080"/>
            <a:ext cx="8138160" cy="1481328"/>
          </a:xfrm>
          <a:prstGeom prst="rect">
            <a:avLst/>
          </a:prstGeom>
          <a:solidFill>
            <a:srgbClr val="F8F9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783080"/>
            <a:ext cx="64008" cy="14813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837944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 </a:t>
            </a:r>
            <a:r>
              <a:rPr lang="en-US" sz="13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c.name, c.city, o.order_id, o.amount, o.status
</a:t>
            </a:r>
            <a:r>
              <a:rPr lang="en-US" sz="135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   </a:t>
            </a:r>
            <a:r>
              <a:rPr lang="en-US" sz="13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customers c
</a:t>
            </a:r>
            <a:r>
              <a:rPr lang="en-US" sz="135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    </a:t>
            </a:r>
            <a:r>
              <a:rPr lang="en-US" sz="13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 o  ON  c.customer_id = o.customer_id
</a:t>
            </a:r>
            <a:r>
              <a:rPr lang="en-US" sz="135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  </a:t>
            </a:r>
            <a:r>
              <a:rPr lang="en-US" sz="13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o.status = </a:t>
            </a:r>
            <a:r>
              <a:rPr lang="en-US" sz="1350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'Delivered'</a:t>
            </a:r>
            <a:r>
              <a:rPr lang="en-US" sz="13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 c.city = </a:t>
            </a:r>
            <a:r>
              <a:rPr lang="en-US" sz="1350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'Mumbai'</a:t>
            </a:r>
            <a:r>
              <a:rPr lang="en-US" sz="13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3401568"/>
            <a:ext cx="54864" cy="43891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344728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INNER JOIN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697480" y="3447288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Only rows that match in BOTH tables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2920" y="3950208"/>
            <a:ext cx="54864" cy="43891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399592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 JOIN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697480" y="3995928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All rows from the left table + matching rows from the right (nulls if no match)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" y="4498848"/>
            <a:ext cx="54864" cy="43891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454456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 JOIN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697480" y="4544568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All rows from the right table + matching rows from the left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FB3C369-C45F-B4D5-ECA1-A10055D5C509}"/>
              </a:ext>
            </a:extLst>
          </p:cNvPr>
          <p:cNvSpPr/>
          <p:nvPr/>
        </p:nvSpPr>
        <p:spPr>
          <a:xfrm>
            <a:off x="902524" y="785257"/>
            <a:ext cx="7487392" cy="3371107"/>
          </a:xfrm>
          <a:prstGeom prst="ellipse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8899AA"/>
                </a:solidFill>
              </a:rPr>
              <a:t>Thank You! Questions Welcome 🙌</a:t>
            </a:r>
            <a:endParaRPr lang="en-US" dirty="0"/>
          </a:p>
          <a:p>
            <a:pPr algn="ctr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660015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TM10001115[[fn=Parcel]]</Template>
  <TotalTime>14</TotalTime>
  <Words>673</Words>
  <Application>Microsoft Office PowerPoint</Application>
  <PresentationFormat>On-screen Show (16:9)</PresentationFormat>
  <Paragraphs>105</Paragraphs>
  <Slides>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SQL DQL - SELECT Command</dc:title>
  <dc:subject>PptxGenJS Presentation</dc:subject>
  <dc:creator>PptxGenJS</dc:creator>
  <cp:lastModifiedBy>Prateek Gupta</cp:lastModifiedBy>
  <cp:revision>3</cp:revision>
  <dcterms:created xsi:type="dcterms:W3CDTF">2026-05-18T19:25:23Z</dcterms:created>
  <dcterms:modified xsi:type="dcterms:W3CDTF">2026-05-18T19:44:10Z</dcterms:modified>
</cp:coreProperties>
</file>